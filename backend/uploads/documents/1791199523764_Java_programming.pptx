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0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9" r:id="rId23"/>
    <p:sldId id="277" r:id="rId24"/>
    <p:sldId id="278" r:id="rId25"/>
    <p:sldId id="281" r:id="rId26"/>
    <p:sldId id="280" r:id="rId27"/>
    <p:sldId id="282" r:id="rId28"/>
    <p:sldId id="287" r:id="rId29"/>
    <p:sldId id="283" r:id="rId30"/>
    <p:sldId id="284" r:id="rId31"/>
    <p:sldId id="285" r:id="rId32"/>
    <p:sldId id="286" r:id="rId33"/>
    <p:sldId id="288" r:id="rId34"/>
    <p:sldId id="289" r:id="rId35"/>
    <p:sldId id="290" r:id="rId36"/>
    <p:sldId id="291" r:id="rId37"/>
    <p:sldId id="292" r:id="rId38"/>
    <p:sldId id="293" r:id="rId39"/>
    <p:sldId id="301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946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723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146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15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84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28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57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336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54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05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998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684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082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798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138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285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87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B560AE4-4E8D-4AC1-AE82-5D5A4BCBD2F4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7C4745-A78A-4951-A952-FDDA063F6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59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java/string-initialization-java-string-literal-vs-string-object/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9BE2A-3F47-4210-B287-290CEB8ED0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programming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2308C-8155-469F-8D22-FE71941CEA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 </a:t>
            </a:r>
            <a:r>
              <a:rPr lang="en-US" dirty="0" err="1"/>
              <a:t>Biravi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337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491B0-FCE6-44F7-94D9-FF6EB0C9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54376-78DC-42AE-BA66-C548F4CA1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u="none" strike="noStrike" dirty="0">
                <a:effectLst/>
                <a:latin typeface="Garamond" panose="02020404030301010803" pitchFamily="18" charset="0"/>
              </a:rPr>
              <a:t>Java is a popular, high-level, object-oriented programming language </a:t>
            </a:r>
          </a:p>
          <a:p>
            <a:r>
              <a:rPr lang="en-US" b="0" u="none" strike="noStrike" dirty="0">
                <a:effectLst/>
                <a:latin typeface="Garamond" panose="02020404030301010803" pitchFamily="18" charset="0"/>
              </a:rPr>
              <a:t>first released by </a:t>
            </a:r>
            <a:r>
              <a:rPr lang="en-US" b="1" u="none" strike="noStrike" dirty="0">
                <a:effectLst/>
                <a:latin typeface="Garamond" panose="02020404030301010803" pitchFamily="18" charset="0"/>
              </a:rPr>
              <a:t>Sun Microsystems</a:t>
            </a:r>
            <a:r>
              <a:rPr lang="en-US" dirty="0">
                <a:latin typeface="Garamond" panose="02020404030301010803" pitchFamily="18" charset="0"/>
              </a:rPr>
              <a:t> (now owned by </a:t>
            </a:r>
            <a:r>
              <a:rPr lang="en-US" b="1" u="none" strike="noStrike" dirty="0">
                <a:effectLst/>
                <a:latin typeface="Garamond" panose="02020404030301010803" pitchFamily="18" charset="0"/>
              </a:rPr>
              <a:t>Oracle</a:t>
            </a:r>
            <a:r>
              <a:rPr lang="en-US" dirty="0">
                <a:latin typeface="Garamond" panose="02020404030301010803" pitchFamily="18" charset="0"/>
              </a:rPr>
              <a:t>) </a:t>
            </a:r>
          </a:p>
          <a:p>
            <a:r>
              <a:rPr lang="en-US" dirty="0">
                <a:latin typeface="Garamond" panose="02020404030301010803" pitchFamily="18" charset="0"/>
              </a:rPr>
              <a:t>in </a:t>
            </a:r>
            <a:r>
              <a:rPr lang="en-US" b="1" u="none" strike="noStrike" dirty="0">
                <a:effectLst/>
                <a:latin typeface="Garamond" panose="02020404030301010803" pitchFamily="18" charset="0"/>
              </a:rPr>
              <a:t>1995</a:t>
            </a:r>
            <a:r>
              <a:rPr lang="en-US" dirty="0">
                <a:latin typeface="Garamond" panose="02020404030301010803" pitchFamily="18" charset="0"/>
              </a:rPr>
              <a:t>. </a:t>
            </a:r>
          </a:p>
          <a:p>
            <a:r>
              <a:rPr lang="en-US" dirty="0">
                <a:latin typeface="Garamond" panose="02020404030301010803" pitchFamily="18" charset="0"/>
              </a:rPr>
              <a:t>It was designed with the core principle of </a:t>
            </a:r>
            <a:r>
              <a:rPr lang="en-US" b="1" u="none" strike="noStrike" dirty="0">
                <a:effectLst/>
                <a:latin typeface="Garamond" panose="02020404030301010803" pitchFamily="18" charset="0"/>
              </a:rPr>
              <a:t>"Write Once, Run Anywhere" (WORA)</a:t>
            </a:r>
            <a:r>
              <a:rPr lang="en-US" dirty="0">
                <a:latin typeface="Garamond" panose="02020404030301010803" pitchFamily="18" charset="0"/>
              </a:rPr>
              <a:t>, meaning code compiled for one platform can run on any other device with a </a:t>
            </a:r>
            <a:r>
              <a:rPr lang="en-US" b="0" u="none" strike="noStrike" dirty="0">
                <a:effectLst/>
                <a:latin typeface="Garamond" panose="02020404030301010803" pitchFamily="18" charset="0"/>
              </a:rPr>
              <a:t>Java Virtual Machine (JVM)</a:t>
            </a:r>
            <a:r>
              <a:rPr lang="en-US" dirty="0">
                <a:latin typeface="Garamond" panose="02020404030301010803" pitchFamily="18" charset="0"/>
              </a:rPr>
              <a:t>. </a:t>
            </a:r>
            <a:endParaRPr lang="en-I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349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0EBD-9E9E-4C15-8A50-4DC6B441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A9C06-9819-4EA2-BA5C-BE8BFE2E3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u="none" strike="noStrike" dirty="0">
                <a:effectLst/>
                <a:latin typeface="Garamond" panose="02020404030301010803" pitchFamily="18" charset="0"/>
              </a:rPr>
              <a:t>The Java ecosystem is built on three main pillars that allow for development and execution: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aramond" panose="02020404030301010803" pitchFamily="18" charset="0"/>
              </a:rPr>
              <a:t>JVM (Java Virtual Machine):</a:t>
            </a:r>
            <a:r>
              <a:rPr lang="en-US" u="none" strike="noStrike" dirty="0">
                <a:effectLst/>
                <a:latin typeface="Garamond" panose="02020404030301010803" pitchFamily="18" charset="0"/>
              </a:rPr>
              <a:t> The engine that executes Java bytecode, translating it into machine-specific code for the host operating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aramond" panose="02020404030301010803" pitchFamily="18" charset="0"/>
              </a:rPr>
              <a:t>JRE (Java Runtime Environment):</a:t>
            </a:r>
            <a:r>
              <a:rPr lang="en-US" u="none" strike="noStrike" dirty="0">
                <a:effectLst/>
                <a:latin typeface="Garamond" panose="02020404030301010803" pitchFamily="18" charset="0"/>
              </a:rPr>
              <a:t> A package that includes the JVM, core libraries, and other components necessary to </a:t>
            </a:r>
            <a:r>
              <a:rPr lang="en-US" b="1" u="none" strike="noStrike" dirty="0">
                <a:effectLst/>
                <a:latin typeface="Garamond" panose="02020404030301010803" pitchFamily="18" charset="0"/>
              </a:rPr>
              <a:t>run</a:t>
            </a:r>
            <a:r>
              <a:rPr lang="en-US" u="none" strike="noStrike" dirty="0">
                <a:effectLst/>
                <a:latin typeface="Garamond" panose="02020404030301010803" pitchFamily="18" charset="0"/>
              </a:rPr>
              <a:t> Java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aramond" panose="02020404030301010803" pitchFamily="18" charset="0"/>
              </a:rPr>
              <a:t>JDK (Java Development Kit):</a:t>
            </a:r>
            <a:r>
              <a:rPr lang="en-US" u="none" strike="noStrike" dirty="0">
                <a:effectLst/>
                <a:latin typeface="Garamond" panose="02020404030301010803" pitchFamily="18" charset="0"/>
              </a:rPr>
              <a:t> The full developer suite that includes the JRE plus development tools like the Java Compiler (</a:t>
            </a:r>
            <a:r>
              <a:rPr lang="en-US" u="none" strike="noStrike" dirty="0" err="1">
                <a:effectLst/>
                <a:latin typeface="Garamond" panose="02020404030301010803" pitchFamily="18" charset="0"/>
              </a:rPr>
              <a:t>javac</a:t>
            </a:r>
            <a:r>
              <a:rPr lang="en-US" u="none" strike="noStrike" dirty="0">
                <a:effectLst/>
                <a:latin typeface="Garamond" panose="02020404030301010803" pitchFamily="18" charset="0"/>
              </a:rPr>
              <a:t>) and debugger</a:t>
            </a:r>
          </a:p>
          <a:p>
            <a:endParaRPr lang="en-I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245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B49D7-FF0B-426E-AC6A-0248B70D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ecosystem</a:t>
            </a:r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6F91EFF-2C35-4632-9C96-C118EF46E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002" y="1887652"/>
            <a:ext cx="9758750" cy="374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6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9C61-CD52-4DD9-8745-919DFD89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Main Editions of Java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F0369-DA70-4D0B-AD06-295110CFD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Different editions cater to specific development needs:</a:t>
            </a:r>
          </a:p>
          <a:p>
            <a:r>
              <a:rPr lang="en-US" b="1" dirty="0"/>
              <a:t>Java SE (Standard Edition): </a:t>
            </a:r>
            <a:r>
              <a:rPr lang="en-US" dirty="0"/>
              <a:t>The core platform for desktop and server applications.</a:t>
            </a:r>
          </a:p>
          <a:p>
            <a:r>
              <a:rPr lang="en-US" b="1" dirty="0"/>
              <a:t>Java EE (Enterprise Edition): </a:t>
            </a:r>
            <a:r>
              <a:rPr lang="en-US" dirty="0"/>
              <a:t>Built on SE, it is used for large-scale, distributed enterprise applications.</a:t>
            </a:r>
          </a:p>
          <a:p>
            <a:r>
              <a:rPr lang="en-US" b="1" dirty="0"/>
              <a:t>Java ME (Micro Edition): </a:t>
            </a:r>
            <a:r>
              <a:rPr lang="en-US" dirty="0"/>
              <a:t>Specialized for mobile devices and embedded systems with limited resources.</a:t>
            </a:r>
          </a:p>
          <a:p>
            <a:r>
              <a:rPr lang="en-US" b="1" dirty="0"/>
              <a:t>JavaFX</a:t>
            </a:r>
            <a:r>
              <a:rPr lang="en-US" dirty="0"/>
              <a:t>: Focused on creating modern, multimedia-rich graphical user interfaces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172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A52F675-45BE-4CB6-9AAF-2A6879F5E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Java </a:t>
            </a: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A1E88CF-CDC6-45D5-BFA7-DF6AFDC98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1800" b="1" dirty="0"/>
          </a:p>
          <a:p>
            <a:r>
              <a:rPr lang="en-US" sz="1800" b="1" dirty="0"/>
              <a:t>Object-Oriented:</a:t>
            </a:r>
            <a:r>
              <a:rPr lang="en-US" sz="1800" dirty="0"/>
              <a:t> </a:t>
            </a:r>
            <a:r>
              <a:rPr lang="en-US" sz="1800" dirty="0" err="1"/>
              <a:t>Organises</a:t>
            </a:r>
            <a:r>
              <a:rPr lang="en-US" sz="1800" dirty="0"/>
              <a:t> software as a combination of data and methods using objects and classes.</a:t>
            </a:r>
          </a:p>
          <a:p>
            <a:r>
              <a:rPr lang="en-US" sz="1800" dirty="0"/>
              <a:t> </a:t>
            </a:r>
            <a:r>
              <a:rPr lang="en-US" sz="1800" b="1" dirty="0"/>
              <a:t>Platform Independent</a:t>
            </a:r>
            <a:r>
              <a:rPr lang="en-US" sz="1800" dirty="0"/>
              <a:t>: Compiles code into bytecode that runs on any system with a JVM (Write Once, Run Anywhere).</a:t>
            </a:r>
          </a:p>
          <a:p>
            <a:r>
              <a:rPr lang="en-US" sz="1800" b="1" dirty="0"/>
              <a:t>Secure</a:t>
            </a:r>
            <a:r>
              <a:rPr lang="en-US" sz="1800" dirty="0"/>
              <a:t>: Provides a virus-free, tempered-resistant environment by running code in a secure sandbox.</a:t>
            </a:r>
          </a:p>
          <a:p>
            <a:r>
              <a:rPr lang="en-US" sz="1800" b="1" dirty="0"/>
              <a:t> Robust</a:t>
            </a:r>
            <a:r>
              <a:rPr lang="en-US" sz="1800" dirty="0"/>
              <a:t>: Ensures reliability through strong memory management, automatic garbage collection, and exception handling.</a:t>
            </a:r>
          </a:p>
          <a:p>
            <a:r>
              <a:rPr lang="en-US" sz="1800" b="1" dirty="0"/>
              <a:t> Architecture Neutral</a:t>
            </a:r>
            <a:r>
              <a:rPr lang="en-US" sz="1800" dirty="0"/>
              <a:t>: Maintains fixed sizes for primitive data types regardless of the underlying hardware or OS.</a:t>
            </a:r>
          </a:p>
        </p:txBody>
      </p:sp>
    </p:spTree>
    <p:extLst>
      <p:ext uri="{BB962C8B-B14F-4D97-AF65-F5344CB8AC3E}">
        <p14:creationId xmlns:p14="http://schemas.microsoft.com/office/powerpoint/2010/main" val="1234817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D70E6-277E-473F-BD65-F5A93EC90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Java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EF249-1B76-4C89-AD02-B2C173E84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 </a:t>
            </a:r>
            <a:r>
              <a:rPr lang="en-US" b="1" dirty="0"/>
              <a:t>Portable</a:t>
            </a:r>
            <a:r>
              <a:rPr lang="en-US" dirty="0"/>
              <a:t>: Enables easy execution on any platform without needing to recompile the source code.</a:t>
            </a:r>
          </a:p>
          <a:p>
            <a:r>
              <a:rPr lang="en-US" dirty="0"/>
              <a:t> </a:t>
            </a:r>
            <a:r>
              <a:rPr lang="en-US" b="1" dirty="0"/>
              <a:t>Multithreaded</a:t>
            </a:r>
            <a:r>
              <a:rPr lang="en-US" dirty="0"/>
              <a:t>: Allows a single program to execute multiple tasks simultaneously for better CPU efficiency.</a:t>
            </a:r>
          </a:p>
          <a:p>
            <a:r>
              <a:rPr lang="en-US" b="1" dirty="0"/>
              <a:t> High Performance</a:t>
            </a:r>
            <a:r>
              <a:rPr lang="en-US" dirty="0"/>
              <a:t>: Enhances execution speed using a Just-In-Time (JIT) compiler to convert bytecode to machine code.</a:t>
            </a:r>
          </a:p>
          <a:p>
            <a:r>
              <a:rPr lang="en-US" dirty="0"/>
              <a:t> </a:t>
            </a:r>
            <a:r>
              <a:rPr lang="en-US" b="1" dirty="0"/>
              <a:t>Distributed</a:t>
            </a:r>
            <a:r>
              <a:rPr lang="en-US" dirty="0"/>
              <a:t>: Built-in capabilities allow applications to access files and resources across a network seamlessly.</a:t>
            </a:r>
          </a:p>
          <a:p>
            <a:r>
              <a:rPr lang="en-US" b="1" dirty="0"/>
              <a:t> Dynamic</a:t>
            </a:r>
            <a:r>
              <a:rPr lang="en-US" dirty="0"/>
              <a:t>: Supports dynamic loading of classes and can adapt to evolving environments at runtime.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68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95F57-1F6A-4675-9C13-6D13EA939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AAD34-9189-491D-8F57-F64CF80B2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the </a:t>
            </a:r>
            <a:r>
              <a:rPr lang="en-US" dirty="0" err="1"/>
              <a:t>jdk</a:t>
            </a:r>
            <a:r>
              <a:rPr lang="en-US" dirty="0"/>
              <a:t> from oracle official website.</a:t>
            </a:r>
          </a:p>
          <a:p>
            <a:r>
              <a:rPr lang="en-US" dirty="0"/>
              <a:t>Run the installer file.</a:t>
            </a:r>
          </a:p>
          <a:p>
            <a:r>
              <a:rPr lang="en-US" dirty="0"/>
              <a:t>Set the path variables in environmental variables.</a:t>
            </a:r>
          </a:p>
          <a:p>
            <a:r>
              <a:rPr lang="en-IN" dirty="0"/>
              <a:t>Now its set</a:t>
            </a:r>
          </a:p>
        </p:txBody>
      </p:sp>
    </p:spTree>
    <p:extLst>
      <p:ext uri="{BB962C8B-B14F-4D97-AF65-F5344CB8AC3E}">
        <p14:creationId xmlns:p14="http://schemas.microsoft.com/office/powerpoint/2010/main" val="147845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73748-3655-412C-B477-556CCB692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B778A-1299-4B4C-98F4-C9665A81F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java programs using text editor like notepad and save with file extension .java.</a:t>
            </a:r>
          </a:p>
          <a:p>
            <a:r>
              <a:rPr lang="en-US" dirty="0"/>
              <a:t>Now open IDE or code editor or command </a:t>
            </a:r>
            <a:r>
              <a:rPr lang="en-US" dirty="0" err="1"/>
              <a:t>promt</a:t>
            </a:r>
            <a:endParaRPr lang="en-US" dirty="0"/>
          </a:p>
          <a:p>
            <a:r>
              <a:rPr lang="en-US" dirty="0"/>
              <a:t>Use </a:t>
            </a:r>
            <a:r>
              <a:rPr lang="en-US" dirty="0" err="1"/>
              <a:t>javac</a:t>
            </a:r>
            <a:r>
              <a:rPr lang="en-US" dirty="0"/>
              <a:t> filename.java to compile.</a:t>
            </a:r>
          </a:p>
          <a:p>
            <a:r>
              <a:rPr lang="en-US" dirty="0"/>
              <a:t>Use java filename for running the program.</a:t>
            </a:r>
          </a:p>
          <a:p>
            <a:r>
              <a:rPr lang="en-US" dirty="0"/>
              <a:t>The output will be displayed.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389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54E-E93E-4BFA-A118-B481999C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Program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E24C5-20D6-4A2B-92D4-F3BE819B3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Package &amp; import statement              </a:t>
            </a:r>
          </a:p>
          <a:p>
            <a:pPr marL="0" indent="0">
              <a:buNone/>
            </a:pPr>
            <a:r>
              <a:rPr lang="en-IN" dirty="0"/>
              <a:t>public class Main {                                                       //class </a:t>
            </a:r>
          </a:p>
          <a:p>
            <a:pPr marL="0" indent="0">
              <a:buNone/>
            </a:pPr>
            <a:r>
              <a:rPr lang="en-IN" dirty="0"/>
              <a:t>  public static void main(String[] </a:t>
            </a:r>
            <a:r>
              <a:rPr lang="en-IN" dirty="0" err="1"/>
              <a:t>args</a:t>
            </a:r>
            <a:r>
              <a:rPr lang="en-IN" dirty="0"/>
              <a:t>) {                           //main function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System.out.println</a:t>
            </a:r>
            <a:r>
              <a:rPr lang="en-IN" dirty="0"/>
              <a:t>("Hello World");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3707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AA54-7AD3-4C43-A3D1-158FCB07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of java code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8E29BE-7DEB-445C-997E-E2AC38BCD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686" y="2655118"/>
            <a:ext cx="6339393" cy="3317875"/>
          </a:xfrm>
        </p:spPr>
      </p:pic>
    </p:spTree>
    <p:extLst>
      <p:ext uri="{BB962C8B-B14F-4D97-AF65-F5344CB8AC3E}">
        <p14:creationId xmlns:p14="http://schemas.microsoft.com/office/powerpoint/2010/main" val="3336721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B6B7-C972-4550-AC99-147995769C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basics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D67B-794E-46D6-BEB1-AF7DD7A28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Tokens in java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339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16240-73A0-408D-81E5-8EC88314F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Keywords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ED0A4-229D-4CDE-B4D1-6096EE0EF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Java, keywords (also known as </a:t>
            </a:r>
            <a:r>
              <a:rPr lang="en-US" b="1" dirty="0"/>
              <a:t>reserved words</a:t>
            </a:r>
            <a:r>
              <a:rPr lang="en-US" dirty="0"/>
              <a:t>) are predefined identifiers with specific meanings to the </a:t>
            </a:r>
            <a:r>
              <a:rPr lang="en-US" b="1" dirty="0"/>
              <a:t>Java compiler</a:t>
            </a:r>
            <a:r>
              <a:rPr lang="en-US" dirty="0"/>
              <a:t>. These words cannot be used as names for </a:t>
            </a:r>
            <a:r>
              <a:rPr lang="en-US" b="1" dirty="0"/>
              <a:t>variables, methods, or classes.</a:t>
            </a:r>
          </a:p>
          <a:p>
            <a:r>
              <a:rPr lang="en-US" dirty="0"/>
              <a:t>As of recent versions like Java 21, there are approximately </a:t>
            </a:r>
            <a:r>
              <a:rPr lang="en-US" b="1" dirty="0"/>
              <a:t>53 to 68</a:t>
            </a:r>
            <a:r>
              <a:rPr lang="en-US" dirty="0"/>
              <a:t> keywords,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661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Keywords | List Of 54 Keywords With Description +Code Examples">
            <a:extLst>
              <a:ext uri="{FF2B5EF4-FFF2-40B4-BE49-F238E27FC236}">
                <a16:creationId xmlns:a16="http://schemas.microsoft.com/office/drawing/2014/main" id="{CFDB8DA0-1866-41A5-A671-ABE05CA26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63" b="5113"/>
          <a:stretch/>
        </p:blipFill>
        <p:spPr bwMode="auto">
          <a:xfrm>
            <a:off x="952500" y="1285042"/>
            <a:ext cx="10287000" cy="428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63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653C3-0F6B-4BE4-BC0E-F4611D72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6812C-E6F2-400A-8EBE-7C55B89B7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Java, identifiers are </a:t>
            </a:r>
            <a:r>
              <a:rPr lang="en-US" b="1" dirty="0"/>
              <a:t>symbolic names</a:t>
            </a:r>
            <a:r>
              <a:rPr lang="en-US" dirty="0"/>
              <a:t> that developers give to program elements like </a:t>
            </a:r>
            <a:r>
              <a:rPr lang="en-US" b="1" dirty="0"/>
              <a:t>variables, methods, classes, and packages to uniquely identify them.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13925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3790-DF9E-432D-90DC-31AE06BE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Literals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D25B5-F422-410C-99C0-BEF875986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Java, literals are the </a:t>
            </a:r>
            <a:r>
              <a:rPr lang="en-US" b="1" dirty="0"/>
              <a:t>fixed values</a:t>
            </a:r>
            <a:r>
              <a:rPr lang="en-US" dirty="0"/>
              <a:t> you write directly into your source code—like </a:t>
            </a:r>
            <a:r>
              <a:rPr lang="en-US" b="1" dirty="0"/>
              <a:t>10, 'A', or "Hello World"</a:t>
            </a:r>
            <a:r>
              <a:rPr lang="en-US" dirty="0"/>
              <a:t>. </a:t>
            </a:r>
          </a:p>
          <a:p>
            <a:r>
              <a:rPr lang="en-US" dirty="0"/>
              <a:t>Unlike variables, their values are constant and do not change while the program is running</a:t>
            </a:r>
          </a:p>
          <a:p>
            <a:r>
              <a:rPr lang="en-US" dirty="0"/>
              <a:t>Integer literals</a:t>
            </a:r>
          </a:p>
          <a:p>
            <a:r>
              <a:rPr lang="en-US" dirty="0"/>
              <a:t>Floating point literals</a:t>
            </a:r>
          </a:p>
          <a:p>
            <a:r>
              <a:rPr lang="en-US" dirty="0"/>
              <a:t>Character and string literals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33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B7D490-D028-41B8-B0AD-53E06FDDEE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Datatypes 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FB9351D-CD09-4FD8-B29E-1692FCC315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795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DB46-053A-438D-94E2-81A3371D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data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B002C-32EF-40D1-82D6-44B84E097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Interger</a:t>
            </a:r>
            <a:endParaRPr lang="en-US" dirty="0"/>
          </a:p>
          <a:p>
            <a:r>
              <a:rPr lang="en-US" dirty="0"/>
              <a:t>Floating-point</a:t>
            </a:r>
          </a:p>
          <a:p>
            <a:r>
              <a:rPr lang="en-US" dirty="0"/>
              <a:t>Character</a:t>
            </a:r>
          </a:p>
          <a:p>
            <a:r>
              <a:rPr lang="en-US" dirty="0"/>
              <a:t>Boolean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8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EA2C-F96F-42DA-A4FD-1A90CB739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Non-primitive datatype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DE9A9-E2A8-41D2-8B43-97501B6E2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Non-primitive types refer to </a:t>
            </a:r>
            <a:r>
              <a:rPr lang="en-US" b="1" dirty="0"/>
              <a:t>objects</a:t>
            </a:r>
            <a:r>
              <a:rPr lang="en-US" dirty="0"/>
              <a:t> and are created by the programmer (except for String). They store </a:t>
            </a:r>
            <a:r>
              <a:rPr lang="en-US" b="1" dirty="0"/>
              <a:t>memory addresses</a:t>
            </a:r>
            <a:r>
              <a:rPr lang="en-US" dirty="0"/>
              <a:t> (references) rather than the actual values.</a:t>
            </a:r>
          </a:p>
          <a:p>
            <a:r>
              <a:rPr lang="en-US" b="1" dirty="0"/>
              <a:t>String</a:t>
            </a:r>
            <a:r>
              <a:rPr lang="en-US" dirty="0"/>
              <a:t>: A sequence of characters (e.g., "Hello").</a:t>
            </a:r>
          </a:p>
          <a:p>
            <a:r>
              <a:rPr lang="en-US" b="1" dirty="0"/>
              <a:t>Arrays</a:t>
            </a:r>
            <a:r>
              <a:rPr lang="en-US" dirty="0"/>
              <a:t>: Collections of multiple elements of the same type.</a:t>
            </a:r>
          </a:p>
          <a:p>
            <a:r>
              <a:rPr lang="en-US" b="1" dirty="0"/>
              <a:t>Classes</a:t>
            </a:r>
            <a:r>
              <a:rPr lang="en-US" dirty="0"/>
              <a:t>: Blueprints for creating objects.</a:t>
            </a:r>
          </a:p>
          <a:p>
            <a:r>
              <a:rPr lang="en-US" b="1" dirty="0"/>
              <a:t>Interfaces</a:t>
            </a:r>
            <a:r>
              <a:rPr lang="en-US" dirty="0"/>
              <a:t>: Abstract types that specify behavior for classes to implement.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886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FB31-9367-4A83-B995-DCA56CB5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Differences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AD76ED3-D7E8-4119-92E6-E49681D7E4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811509"/>
              </p:ext>
            </p:extLst>
          </p:nvPr>
        </p:nvGraphicFramePr>
        <p:xfrm>
          <a:off x="736847" y="2069192"/>
          <a:ext cx="10475652" cy="38066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91884">
                  <a:extLst>
                    <a:ext uri="{9D8B030D-6E8A-4147-A177-3AD203B41FA5}">
                      <a16:colId xmlns:a16="http://schemas.microsoft.com/office/drawing/2014/main" val="3198908483"/>
                    </a:ext>
                  </a:extLst>
                </a:gridCol>
                <a:gridCol w="3491884">
                  <a:extLst>
                    <a:ext uri="{9D8B030D-6E8A-4147-A177-3AD203B41FA5}">
                      <a16:colId xmlns:a16="http://schemas.microsoft.com/office/drawing/2014/main" val="4286195163"/>
                    </a:ext>
                  </a:extLst>
                </a:gridCol>
                <a:gridCol w="3491884">
                  <a:extLst>
                    <a:ext uri="{9D8B030D-6E8A-4147-A177-3AD203B41FA5}">
                      <a16:colId xmlns:a16="http://schemas.microsoft.com/office/drawing/2014/main" val="2969680052"/>
                    </a:ext>
                  </a:extLst>
                </a:gridCol>
              </a:tblGrid>
              <a:tr h="384421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Aspect</a:t>
                      </a:r>
                      <a:endParaRPr lang="en-IN" sz="2000">
                        <a:effectLst/>
                      </a:endParaRPr>
                    </a:p>
                  </a:txBody>
                  <a:tcPr marL="41998" marR="41998" marT="20999" marB="20999" anchor="ctr"/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Primitive Data Types</a:t>
                      </a:r>
                      <a:endParaRPr lang="en-IN" sz="2000">
                        <a:effectLst/>
                      </a:endParaRPr>
                    </a:p>
                  </a:txBody>
                  <a:tcPr marL="41998" marR="41998" marT="20999" marB="20999" anchor="ctr"/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Non-Primitive Data Types</a:t>
                      </a:r>
                      <a:endParaRPr lang="en-IN" sz="2000">
                        <a:effectLst/>
                      </a:endParaRPr>
                    </a:p>
                  </a:txBody>
                  <a:tcPr marL="41998" marR="41998" marT="20999" marB="20999" anchor="ctr"/>
                </a:tc>
                <a:extLst>
                  <a:ext uri="{0D108BD9-81ED-4DB2-BD59-A6C34878D82A}">
                    <a16:rowId xmlns:a16="http://schemas.microsoft.com/office/drawing/2014/main" val="1413078995"/>
                  </a:ext>
                </a:extLst>
              </a:tr>
              <a:tr h="722288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Memory Storage</a:t>
                      </a:r>
                      <a:endParaRPr lang="en-IN" sz="2000">
                        <a:effectLst/>
                      </a:endParaRPr>
                    </a:p>
                  </a:txBody>
                  <a:tcPr marL="41998" marR="41998" marT="20999" marB="20999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Stores actual values (e.g., numbers, characters).</a:t>
                      </a:r>
                    </a:p>
                  </a:txBody>
                  <a:tcPr marL="41998" marR="41998" marT="20999" marB="20999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Stores references to objects or data structures.</a:t>
                      </a:r>
                    </a:p>
                  </a:txBody>
                  <a:tcPr marL="41998" marR="41998" marT="20999" marB="20999" anchor="ctr"/>
                </a:tc>
                <a:extLst>
                  <a:ext uri="{0D108BD9-81ED-4DB2-BD59-A6C34878D82A}">
                    <a16:rowId xmlns:a16="http://schemas.microsoft.com/office/drawing/2014/main" val="3270211888"/>
                  </a:ext>
                </a:extLst>
              </a:tr>
              <a:tr h="722288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Size</a:t>
                      </a:r>
                      <a:endParaRPr lang="en-IN" sz="2000">
                        <a:effectLst/>
                      </a:endParaRPr>
                    </a:p>
                  </a:txBody>
                  <a:tcPr marL="41998" marR="41998" marT="20999" marB="20999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Fixed size (e.g., int is 4 bytes).</a:t>
                      </a:r>
                    </a:p>
                  </a:txBody>
                  <a:tcPr marL="41998" marR="41998" marT="20999" marB="20999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Variable size (depends on the object or data structure).</a:t>
                      </a:r>
                    </a:p>
                  </a:txBody>
                  <a:tcPr marL="41998" marR="41998" marT="20999" marB="20999" anchor="ctr"/>
                </a:tc>
                <a:extLst>
                  <a:ext uri="{0D108BD9-81ED-4DB2-BD59-A6C34878D82A}">
                    <a16:rowId xmlns:a16="http://schemas.microsoft.com/office/drawing/2014/main" val="1421511404"/>
                  </a:ext>
                </a:extLst>
              </a:tr>
              <a:tr h="722288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Data Representation</a:t>
                      </a:r>
                      <a:endParaRPr lang="en-IN" sz="2000">
                        <a:effectLst/>
                      </a:endParaRPr>
                    </a:p>
                  </a:txBody>
                  <a:tcPr marL="41998" marR="41998" marT="20999" marB="20999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Simple, holds a single value.</a:t>
                      </a:r>
                    </a:p>
                  </a:txBody>
                  <a:tcPr marL="41998" marR="41998" marT="20999" marB="20999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Can represent complex data (objects, collections, etc.).</a:t>
                      </a:r>
                    </a:p>
                  </a:txBody>
                  <a:tcPr marL="41998" marR="41998" marT="20999" marB="20999" anchor="ctr"/>
                </a:tc>
                <a:extLst>
                  <a:ext uri="{0D108BD9-81ED-4DB2-BD59-A6C34878D82A}">
                    <a16:rowId xmlns:a16="http://schemas.microsoft.com/office/drawing/2014/main" val="4149070392"/>
                  </a:ext>
                </a:extLst>
              </a:tr>
              <a:tr h="722288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Mutability</a:t>
                      </a:r>
                      <a:endParaRPr lang="en-IN" sz="2000">
                        <a:effectLst/>
                      </a:endParaRPr>
                    </a:p>
                  </a:txBody>
                  <a:tcPr marL="41998" marR="41998" marT="20999" marB="20999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Mutable (except final variables).</a:t>
                      </a:r>
                    </a:p>
                  </a:txBody>
                  <a:tcPr marL="41998" marR="41998" marT="20999" marB="20999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Can be mutable or immutable (e.g., String is immutable).</a:t>
                      </a:r>
                    </a:p>
                  </a:txBody>
                  <a:tcPr marL="41998" marR="41998" marT="20999" marB="20999" anchor="ctr"/>
                </a:tc>
                <a:extLst>
                  <a:ext uri="{0D108BD9-81ED-4DB2-BD59-A6C34878D82A}">
                    <a16:rowId xmlns:a16="http://schemas.microsoft.com/office/drawing/2014/main" val="2178200386"/>
                  </a:ext>
                </a:extLst>
              </a:tr>
              <a:tr h="533103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Examples</a:t>
                      </a:r>
                      <a:endParaRPr lang="en-IN" sz="2000">
                        <a:effectLst/>
                      </a:endParaRPr>
                    </a:p>
                  </a:txBody>
                  <a:tcPr marL="41998" marR="41998" marT="20999" marB="20999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int, char, boolean, float, long.</a:t>
                      </a:r>
                    </a:p>
                  </a:txBody>
                  <a:tcPr marL="41998" marR="41998" marT="20999" marB="20999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String, Arrays, Classes, Interfaces.</a:t>
                      </a:r>
                    </a:p>
                  </a:txBody>
                  <a:tcPr marL="41998" marR="41998" marT="20999" marB="20999" anchor="ctr"/>
                </a:tc>
                <a:extLst>
                  <a:ext uri="{0D108BD9-81ED-4DB2-BD59-A6C34878D82A}">
                    <a16:rowId xmlns:a16="http://schemas.microsoft.com/office/drawing/2014/main" val="2348086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017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5DEA-E6A1-4CB6-94D2-D315415F9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903CB-D7BE-4573-A62D-E29EF151D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</a:t>
            </a:r>
          </a:p>
          <a:p>
            <a:r>
              <a:rPr lang="en-US" dirty="0"/>
              <a:t>Instance</a:t>
            </a:r>
          </a:p>
          <a:p>
            <a:r>
              <a:rPr lang="en-US" dirty="0"/>
              <a:t>static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357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5142-4303-4FE7-8A99-37AF7ECDB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Local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1A83B-CE74-479F-B2F7-196E944CE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Declaration:</a:t>
            </a:r>
          </a:p>
          <a:p>
            <a:pPr marL="0" indent="0">
              <a:buNone/>
            </a:pPr>
            <a:r>
              <a:rPr lang="en-US" dirty="0"/>
              <a:t>		Local variables are declared inside a method, constructor, or block.</a:t>
            </a:r>
          </a:p>
          <a:p>
            <a:r>
              <a:rPr lang="en-US" b="1" dirty="0"/>
              <a:t>Scope:</a:t>
            </a:r>
          </a:p>
          <a:p>
            <a:pPr marL="0" indent="0">
              <a:buNone/>
            </a:pPr>
            <a:r>
              <a:rPr lang="en-US" dirty="0"/>
              <a:t>		Their scope is limited to the method, constructor, or block in which they are declared.</a:t>
            </a:r>
          </a:p>
          <a:p>
            <a:r>
              <a:rPr lang="en-US" b="1" dirty="0"/>
              <a:t>Lifetime:</a:t>
            </a:r>
          </a:p>
          <a:p>
            <a:pPr marL="0" indent="0">
              <a:buNone/>
            </a:pPr>
            <a:r>
              <a:rPr lang="en-US" dirty="0"/>
              <a:t>		The lifetime of local variables starts when the method, constructor, or block is entered and destroyed when it is exited.</a:t>
            </a:r>
          </a:p>
          <a:p>
            <a:r>
              <a:rPr lang="en-US" b="1" dirty="0"/>
              <a:t>Initialization:</a:t>
            </a:r>
          </a:p>
          <a:p>
            <a:pPr marL="0" indent="0">
              <a:buNone/>
            </a:pPr>
            <a:r>
              <a:rPr lang="en-US" dirty="0"/>
              <a:t>	A local variable must be initialized before you can use them.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4257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CE600-6302-4A8E-8B3D-EC17567A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Instance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B3461-ED94-41A3-8C71-2F5BEA634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b="1" dirty="0"/>
              <a:t>Declaration:</a:t>
            </a:r>
          </a:p>
          <a:p>
            <a:pPr marL="0" indent="0">
              <a:buNone/>
            </a:pPr>
            <a:r>
              <a:rPr lang="en-US" sz="1800" dirty="0"/>
              <a:t>		Instance variables are declared inside a class but outside any method, constructor, or block.</a:t>
            </a:r>
          </a:p>
          <a:p>
            <a:r>
              <a:rPr lang="en-US" sz="1800" b="1" dirty="0"/>
              <a:t>Scope:</a:t>
            </a:r>
          </a:p>
          <a:p>
            <a:pPr marL="0" indent="0">
              <a:buNone/>
            </a:pPr>
            <a:r>
              <a:rPr lang="en-US" sz="1800" dirty="0"/>
              <a:t>		They are accessible from any method, constructor, or block within the class (non-static context).</a:t>
            </a:r>
          </a:p>
          <a:p>
            <a:r>
              <a:rPr lang="en-US" sz="1800" b="1" dirty="0"/>
              <a:t>Lifetime:</a:t>
            </a:r>
          </a:p>
          <a:p>
            <a:pPr marL="0" indent="0">
              <a:buNone/>
            </a:pPr>
            <a:r>
              <a:rPr lang="en-US" sz="1800" dirty="0"/>
              <a:t>		The lifetime of an instance variable starts when an object is created and ends when the object is destroyed.</a:t>
            </a:r>
          </a:p>
          <a:p>
            <a:r>
              <a:rPr lang="en-US" sz="1800" b="1" dirty="0"/>
              <a:t>Initialization:</a:t>
            </a:r>
          </a:p>
          <a:p>
            <a:pPr marL="0" indent="0">
              <a:buNone/>
            </a:pPr>
            <a:r>
              <a:rPr lang="en-US" sz="1800" dirty="0"/>
              <a:t>		If these variables are not initialized, they are by default initialized to their default values (e.g., 0 for integers, null for objects).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15512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738D-4981-481C-A156-4067B939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Static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52299-92AB-42B3-B3D3-3379FD03D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Declaration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Declared inside a class with the static keyword.</a:t>
            </a:r>
          </a:p>
          <a:p>
            <a:r>
              <a:rPr lang="en-US" b="1" dirty="0"/>
              <a:t>Scope:</a:t>
            </a:r>
          </a:p>
          <a:p>
            <a:pPr marL="0" indent="0">
              <a:buNone/>
            </a:pPr>
            <a:r>
              <a:rPr lang="en-US" dirty="0"/>
              <a:t>	They are accessible inside the class. They can be accessed using class name.</a:t>
            </a:r>
          </a:p>
          <a:p>
            <a:r>
              <a:rPr lang="en-US" b="1" dirty="0"/>
              <a:t>Lifetime:</a:t>
            </a:r>
          </a:p>
          <a:p>
            <a:pPr marL="0" indent="0">
              <a:buNone/>
            </a:pPr>
            <a:r>
              <a:rPr lang="en-US" dirty="0"/>
              <a:t>	The lifetime of a static variable starts when a class is loaded into the memory by JVM and ends when the class is unloaded.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727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FE90-3E9D-4047-B534-9A7D3850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casting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AC8FF-F92B-49F3-A2E4-05FB9EF0F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342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0CC7C-7F1E-49F5-8D14-716E32AD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Widening Casting (Implicit)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1189-149A-4775-BAFB-3885EA306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happens automatically when you convert a smaller primitive type to a larger one. Since the target type is larger, there is no risk of data loss.</a:t>
            </a:r>
          </a:p>
          <a:p>
            <a:r>
              <a:rPr lang="en-IN" dirty="0"/>
              <a:t>Order: byte → short → char → int → long → float → double</a:t>
            </a:r>
          </a:p>
          <a:p>
            <a:pPr marL="457200" lvl="1" indent="0">
              <a:buNone/>
            </a:pPr>
            <a:endParaRPr lang="en-US" sz="1400" b="1" u="none" strike="noStrike" dirty="0">
              <a:effectLst/>
              <a:latin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1400" b="1" u="none" strike="noStrike" dirty="0">
                <a:effectLst/>
                <a:latin typeface="Courier New" panose="02070309020205020404" pitchFamily="49" charset="0"/>
              </a:rPr>
              <a:t>int </a:t>
            </a:r>
            <a:r>
              <a:rPr lang="en-US" sz="1400" b="1" u="none" strike="noStrike" dirty="0" err="1">
                <a:effectLst/>
                <a:latin typeface="Courier New" panose="02070309020205020404" pitchFamily="49" charset="0"/>
              </a:rPr>
              <a:t>myInt</a:t>
            </a:r>
            <a:r>
              <a:rPr lang="en-US" sz="1400" b="1" u="none" strike="noStrike" dirty="0">
                <a:effectLst/>
                <a:latin typeface="Courier New" panose="02070309020205020404" pitchFamily="49" charset="0"/>
              </a:rPr>
              <a:t> = 9;</a:t>
            </a:r>
          </a:p>
          <a:p>
            <a:pPr marL="457200" lvl="1" indent="0">
              <a:buNone/>
            </a:pPr>
            <a:r>
              <a:rPr lang="en-US" sz="1400" b="1" u="none" strike="noStrike" dirty="0">
                <a:effectLst/>
                <a:latin typeface="Courier New" panose="02070309020205020404" pitchFamily="49" charset="0"/>
              </a:rPr>
              <a:t>double </a:t>
            </a:r>
            <a:r>
              <a:rPr lang="en-US" sz="1400" b="1" u="none" strike="noStrike" dirty="0" err="1">
                <a:effectLst/>
                <a:latin typeface="Courier New" panose="02070309020205020404" pitchFamily="49" charset="0"/>
              </a:rPr>
              <a:t>myDouble</a:t>
            </a:r>
            <a:r>
              <a:rPr lang="en-US" sz="1400" b="1" u="none" strike="noStrike" dirty="0">
                <a:effectLst/>
                <a:latin typeface="Courier New" panose="02070309020205020404" pitchFamily="49" charset="0"/>
              </a:rPr>
              <a:t> = </a:t>
            </a:r>
            <a:r>
              <a:rPr lang="en-US" sz="1400" b="1" u="none" strike="noStrike" dirty="0" err="1">
                <a:effectLst/>
                <a:latin typeface="Courier New" panose="02070309020205020404" pitchFamily="49" charset="0"/>
              </a:rPr>
              <a:t>myInt</a:t>
            </a:r>
            <a:r>
              <a:rPr lang="en-US" sz="1400" b="1" u="none" strike="noStrike" dirty="0">
                <a:effectLst/>
                <a:latin typeface="Courier New" panose="02070309020205020404" pitchFamily="49" charset="0"/>
              </a:rPr>
              <a:t>; // Automatic casting: int to double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691806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3C7D-174F-4FB6-A9C4-06263B4F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2. Narrowing Casting (Explicit)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3E9BB-4120-4530-9A34-A5504182A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must be done manually by placing the target type in parentheses. It is used when converting a larger type to a smaller one, which can lead to data loss (like losing decimal places).</a:t>
            </a:r>
          </a:p>
          <a:p>
            <a:r>
              <a:rPr lang="en-IN" dirty="0"/>
              <a:t>Order: double → float → long → int → char → short → byte</a:t>
            </a:r>
          </a:p>
          <a:p>
            <a:pPr marL="0" indent="0">
              <a:buNone/>
            </a:pPr>
            <a:r>
              <a:rPr lang="en-US" sz="1800" b="1" u="none" strike="noStrike" dirty="0">
                <a:effectLst/>
                <a:latin typeface="Courier New" panose="02070309020205020404" pitchFamily="49" charset="0"/>
              </a:rPr>
              <a:t>double </a:t>
            </a:r>
            <a:r>
              <a:rPr lang="en-US" sz="1800" b="1" u="none" strike="noStrike" dirty="0" err="1">
                <a:effectLst/>
                <a:latin typeface="Courier New" panose="02070309020205020404" pitchFamily="49" charset="0"/>
              </a:rPr>
              <a:t>myDouble</a:t>
            </a:r>
            <a:r>
              <a:rPr lang="en-US" sz="1800" b="1" u="none" strike="noStrike" dirty="0">
                <a:effectLst/>
                <a:latin typeface="Courier New" panose="02070309020205020404" pitchFamily="49" charset="0"/>
              </a:rPr>
              <a:t> = 9.78d; </a:t>
            </a:r>
          </a:p>
          <a:p>
            <a:pPr marL="0" indent="0">
              <a:buNone/>
            </a:pPr>
            <a:r>
              <a:rPr lang="en-US" sz="1800" b="1" u="none" strike="noStrike" dirty="0">
                <a:effectLst/>
                <a:latin typeface="Courier New" panose="02070309020205020404" pitchFamily="49" charset="0"/>
              </a:rPr>
              <a:t>int </a:t>
            </a:r>
            <a:r>
              <a:rPr lang="en-US" sz="1800" b="1" u="none" strike="noStrike" dirty="0" err="1">
                <a:effectLst/>
                <a:latin typeface="Courier New" panose="02070309020205020404" pitchFamily="49" charset="0"/>
              </a:rPr>
              <a:t>myInt</a:t>
            </a:r>
            <a:r>
              <a:rPr lang="en-US" sz="1800" b="1" u="none" strike="noStrike" dirty="0">
                <a:effectLst/>
                <a:latin typeface="Courier New" panose="02070309020205020404" pitchFamily="49" charset="0"/>
              </a:rPr>
              <a:t> = (int) </a:t>
            </a:r>
            <a:r>
              <a:rPr lang="en-US" sz="1800" b="1" u="none" strike="noStrike" dirty="0" err="1">
                <a:effectLst/>
                <a:latin typeface="Courier New" panose="02070309020205020404" pitchFamily="49" charset="0"/>
              </a:rPr>
              <a:t>myDouble</a:t>
            </a:r>
            <a:r>
              <a:rPr lang="en-US" sz="1800" b="1" u="none" strike="noStrike" dirty="0">
                <a:effectLst/>
                <a:latin typeface="Courier New" panose="02070309020205020404" pitchFamily="49" charset="0"/>
              </a:rPr>
              <a:t>;       // Manual casting: double to int (outputs 9)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37520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C5EB-269E-4531-A757-94729EE6B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63306-4582-4CA6-AC23-AFB9804A1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Arithmetic Operators</a:t>
            </a:r>
          </a:p>
          <a:p>
            <a:r>
              <a:rPr lang="en-US" dirty="0"/>
              <a:t>        Relational Operators</a:t>
            </a:r>
          </a:p>
          <a:p>
            <a:r>
              <a:rPr lang="en-US" dirty="0"/>
              <a:t>        Logical Operators</a:t>
            </a:r>
          </a:p>
          <a:p>
            <a:r>
              <a:rPr lang="en-US" dirty="0"/>
              <a:t>        Assignment Operators</a:t>
            </a:r>
          </a:p>
          <a:p>
            <a:r>
              <a:rPr lang="en-US" dirty="0"/>
              <a:t>        Unary Operators</a:t>
            </a:r>
          </a:p>
          <a:p>
            <a:r>
              <a:rPr lang="en-US" dirty="0"/>
              <a:t>        Ternary Operator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5032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A8FA-FF4A-49CF-B0A0-24937842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Arithmetic Operators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28D56-12A7-436E-B0C6-A3646C34B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</a:t>
            </a:r>
          </a:p>
          <a:p>
            <a:r>
              <a:rPr lang="en-US" dirty="0" err="1"/>
              <a:t>Subraction</a:t>
            </a:r>
            <a:endParaRPr lang="en-US" dirty="0"/>
          </a:p>
          <a:p>
            <a:r>
              <a:rPr lang="en-US" dirty="0"/>
              <a:t>Multiplication </a:t>
            </a:r>
          </a:p>
          <a:p>
            <a:r>
              <a:rPr lang="en-US" dirty="0"/>
              <a:t>Division</a:t>
            </a:r>
          </a:p>
          <a:p>
            <a:r>
              <a:rPr lang="en-US" dirty="0"/>
              <a:t>modulus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378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B7DC-244E-441F-9E7A-BB3C3F4D1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7183-C8FD-4FA6-AEA7-AB5749915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==</a:t>
            </a:r>
          </a:p>
          <a:p>
            <a:r>
              <a:rPr lang="en-US" dirty="0"/>
              <a:t>!=</a:t>
            </a:r>
          </a:p>
          <a:p>
            <a:r>
              <a:rPr lang="en-US" dirty="0"/>
              <a:t>&lt;</a:t>
            </a:r>
          </a:p>
          <a:p>
            <a:r>
              <a:rPr lang="en-US" dirty="0"/>
              <a:t>&gt;</a:t>
            </a:r>
          </a:p>
          <a:p>
            <a:r>
              <a:rPr lang="en-US" dirty="0"/>
              <a:t>&lt;=</a:t>
            </a:r>
          </a:p>
          <a:p>
            <a:r>
              <a:rPr lang="en-US" dirty="0"/>
              <a:t>&gt;=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D303CA8-FA84-4125-AB82-6A9E96E43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-98425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6809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7155-CCF5-40D1-8D0C-B79A507C6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97435-29D8-4666-8817-00D127F9A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&amp;&amp;</a:t>
            </a:r>
          </a:p>
          <a:p>
            <a:r>
              <a:rPr lang="en-US" dirty="0"/>
              <a:t>||</a:t>
            </a:r>
          </a:p>
          <a:p>
            <a:r>
              <a:rPr lang="en-US" dirty="0"/>
              <a:t>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20339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AD8AF-2110-4DE4-8F4C-49BA1F83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5734E-4B71-48D9-8ABE-8B7EB0D29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=</a:t>
            </a:r>
          </a:p>
          <a:p>
            <a:r>
              <a:rPr lang="en-US" dirty="0"/>
              <a:t>+=</a:t>
            </a:r>
          </a:p>
          <a:p>
            <a:r>
              <a:rPr lang="en-US" dirty="0"/>
              <a:t>-=</a:t>
            </a:r>
          </a:p>
          <a:p>
            <a:r>
              <a:rPr lang="en-US" dirty="0"/>
              <a:t>*=</a:t>
            </a:r>
          </a:p>
          <a:p>
            <a:r>
              <a:rPr lang="en-US" dirty="0"/>
              <a:t>/=</a:t>
            </a:r>
          </a:p>
          <a:p>
            <a:r>
              <a:rPr lang="en-US" dirty="0"/>
              <a:t>%=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8741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31C1-C0C4-4B1B-A6B0-73AA3491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Unary operator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36BC-A460-4C45-A6EF-4D00B5C57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++</a:t>
            </a:r>
          </a:p>
          <a:p>
            <a:r>
              <a:rPr lang="en-US" dirty="0"/>
              <a:t>--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825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237EA-F2D9-4453-A669-80FA266D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Ternary operator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DD51C-F6E0-455F-B629-AF581B479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variable = (condition) ? </a:t>
            </a:r>
            <a:r>
              <a:rPr lang="en-IN" dirty="0" err="1"/>
              <a:t>expressionTrue</a:t>
            </a:r>
            <a:r>
              <a:rPr lang="en-IN" dirty="0"/>
              <a:t> :  </a:t>
            </a:r>
            <a:r>
              <a:rPr lang="en-IN" dirty="0" err="1"/>
              <a:t>expressionFalse</a:t>
            </a:r>
            <a:r>
              <a:rPr lang="en-IN" dirty="0"/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338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8AC6-E81F-4F6B-93AC-C93ED3CB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condition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F019C-C408-440F-8831-6437F9F73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(condition) {</a:t>
            </a:r>
          </a:p>
          <a:p>
            <a:pPr marL="0" indent="0">
              <a:buNone/>
            </a:pPr>
            <a:r>
              <a:rPr lang="en-US" dirty="0"/>
              <a:t>  // block of code to be executed if the condition is true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1970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BCE4-A011-427E-A0B9-AA41C6569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If-else condition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F2874-9F81-4009-9FFA-6A1E161AB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if (condition)</a:t>
            </a:r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// block of code to be executed if the condition is true</a:t>
            </a:r>
          </a:p>
          <a:p>
            <a:pPr marL="0" indent="0">
              <a:buNone/>
            </a:pPr>
            <a:r>
              <a:rPr lang="en-US" dirty="0"/>
              <a:t>} else</a:t>
            </a:r>
          </a:p>
          <a:p>
            <a:pPr marL="0" indent="0">
              <a:buNone/>
            </a:pP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// block of code to be executed if the condition is false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292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8E82A-DD10-497A-8152-49A6DEF50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Else if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90CB1-CDD1-4A92-89C0-90E04AE19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if (condition1) {</a:t>
            </a:r>
          </a:p>
          <a:p>
            <a:pPr marL="0" indent="0">
              <a:buNone/>
            </a:pPr>
            <a:r>
              <a:rPr lang="en-US" dirty="0"/>
              <a:t>  // block of code to be executed if condition1 is true</a:t>
            </a:r>
          </a:p>
          <a:p>
            <a:pPr marL="0" indent="0">
              <a:buNone/>
            </a:pPr>
            <a:r>
              <a:rPr lang="en-US" dirty="0"/>
              <a:t>} else if (condition2) {</a:t>
            </a:r>
          </a:p>
          <a:p>
            <a:pPr marL="0" indent="0">
              <a:buNone/>
            </a:pPr>
            <a:r>
              <a:rPr lang="en-US" dirty="0"/>
              <a:t>  // block of code to be executed if condition1 is false and condition2 is true</a:t>
            </a:r>
          </a:p>
          <a:p>
            <a:pPr marL="0" indent="0">
              <a:buNone/>
            </a:pPr>
            <a:r>
              <a:rPr lang="en-US" dirty="0"/>
              <a:t>} else {</a:t>
            </a:r>
          </a:p>
          <a:p>
            <a:pPr marL="0" indent="0">
              <a:buNone/>
            </a:pPr>
            <a:r>
              <a:rPr lang="en-US" dirty="0"/>
              <a:t>  // block of code to be executed if both conditions are false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8145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8DAD-28D1-48CB-BB8A-CC5F1A410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C3326-8E55-4551-BAF2-E3B477C9A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(condition1) {</a:t>
            </a:r>
          </a:p>
          <a:p>
            <a:pPr marL="0" indent="0">
              <a:buNone/>
            </a:pPr>
            <a:r>
              <a:rPr lang="en-US" dirty="0"/>
              <a:t>  // code to run if condition1 is true</a:t>
            </a:r>
          </a:p>
          <a:p>
            <a:pPr marL="0" indent="0">
              <a:buNone/>
            </a:pPr>
            <a:r>
              <a:rPr lang="en-US" dirty="0"/>
              <a:t>  if (condition2) {</a:t>
            </a:r>
          </a:p>
          <a:p>
            <a:pPr marL="0" indent="0">
              <a:buNone/>
            </a:pPr>
            <a:r>
              <a:rPr lang="en-US" dirty="0"/>
              <a:t>    // code to run if both condition1 and condition2 are true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466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03513-D509-4146-A70D-D1C70D79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24298-0D7F-42D4-A847-D1B9EE5A4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068659"/>
            <a:ext cx="9601196" cy="37107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switch(expression) {</a:t>
            </a:r>
          </a:p>
          <a:p>
            <a:pPr marL="0" indent="0">
              <a:buNone/>
            </a:pPr>
            <a:r>
              <a:rPr lang="en-US" sz="1600" dirty="0"/>
              <a:t>  case x:</a:t>
            </a:r>
          </a:p>
          <a:p>
            <a:pPr marL="0" indent="0">
              <a:buNone/>
            </a:pPr>
            <a:r>
              <a:rPr lang="en-US" sz="1600" dirty="0"/>
              <a:t>    // code block</a:t>
            </a:r>
          </a:p>
          <a:p>
            <a:pPr marL="0" indent="0">
              <a:buNone/>
            </a:pPr>
            <a:r>
              <a:rPr lang="en-US" sz="1600" dirty="0"/>
              <a:t>    break;</a:t>
            </a:r>
          </a:p>
          <a:p>
            <a:pPr marL="0" indent="0">
              <a:buNone/>
            </a:pPr>
            <a:r>
              <a:rPr lang="en-US" sz="1600" dirty="0"/>
              <a:t>  case y:</a:t>
            </a:r>
          </a:p>
          <a:p>
            <a:pPr marL="0" indent="0">
              <a:buNone/>
            </a:pPr>
            <a:r>
              <a:rPr lang="en-US" sz="1600" dirty="0"/>
              <a:t>    // code block</a:t>
            </a:r>
          </a:p>
          <a:p>
            <a:pPr marL="0" indent="0">
              <a:buNone/>
            </a:pPr>
            <a:r>
              <a:rPr lang="en-US" sz="1600" dirty="0"/>
              <a:t>    break;</a:t>
            </a:r>
          </a:p>
          <a:p>
            <a:pPr marL="0" indent="0">
              <a:buNone/>
            </a:pPr>
            <a:r>
              <a:rPr lang="en-US" sz="1600" dirty="0"/>
              <a:t>  default:</a:t>
            </a:r>
          </a:p>
          <a:p>
            <a:pPr marL="0" indent="0">
              <a:buNone/>
            </a:pPr>
            <a:r>
              <a:rPr lang="en-US" sz="1600" dirty="0"/>
              <a:t>    // code block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00944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B0433-A53F-410E-AD67-5F0820C8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statements-for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29C89-F0BE-4641-B567-E783588C3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(statement 1; statement 2; statement 3) {</a:t>
            </a:r>
          </a:p>
          <a:p>
            <a:pPr marL="0" indent="0">
              <a:buNone/>
            </a:pPr>
            <a:r>
              <a:rPr lang="en-US" dirty="0"/>
              <a:t>  // code block to be executed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Exactly how many times the loop need to be executed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540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6D88-8A64-40E9-9849-CE67CA2A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A6770-3C24-4A2F-9F28-9C4052A44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while loop repeats a block of code </a:t>
            </a:r>
            <a:r>
              <a:rPr lang="en-US" b="1" dirty="0"/>
              <a:t>as long as the specified condition is true</a:t>
            </a:r>
          </a:p>
          <a:p>
            <a:r>
              <a:rPr lang="en-US" b="1" dirty="0"/>
              <a:t>Int </a:t>
            </a:r>
            <a:r>
              <a:rPr lang="en-US" b="1" dirty="0" err="1"/>
              <a:t>Loopvar</a:t>
            </a:r>
            <a:r>
              <a:rPr lang="en-US" b="1" dirty="0"/>
              <a:t>=0;</a:t>
            </a:r>
          </a:p>
          <a:p>
            <a:pPr marL="0" indent="0">
              <a:buNone/>
            </a:pPr>
            <a:r>
              <a:rPr lang="en-US" b="1" dirty="0"/>
              <a:t>while (condition) {</a:t>
            </a:r>
          </a:p>
          <a:p>
            <a:pPr marL="0" indent="0">
              <a:buNone/>
            </a:pPr>
            <a:r>
              <a:rPr lang="en-US" b="1" dirty="0"/>
              <a:t>  // code block to be executed</a:t>
            </a:r>
          </a:p>
          <a:p>
            <a:pPr marL="0" indent="0">
              <a:buNone/>
            </a:pPr>
            <a:r>
              <a:rPr lang="en-US" b="1" dirty="0"/>
              <a:t>}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344484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2F992-4679-45C8-9909-6FC580B01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For-each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55A4D-6F43-49FF-801C-1EF8B4921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253143" cy="33189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loop through elements in an array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for (type </a:t>
            </a:r>
            <a:r>
              <a:rPr lang="en-US" b="1" dirty="0" err="1"/>
              <a:t>variableName</a:t>
            </a:r>
            <a:r>
              <a:rPr lang="en-US" b="1" dirty="0"/>
              <a:t> : </a:t>
            </a:r>
            <a:r>
              <a:rPr lang="en-US" b="1" dirty="0" err="1"/>
              <a:t>arrayName</a:t>
            </a:r>
            <a:r>
              <a:rPr lang="en-US" b="1" dirty="0"/>
              <a:t>) {</a:t>
            </a:r>
          </a:p>
          <a:p>
            <a:pPr marL="0" indent="0">
              <a:buNone/>
            </a:pPr>
            <a:r>
              <a:rPr lang="en-US" b="1" dirty="0"/>
              <a:t>  // code block to be executed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7840C82-4C52-448E-9C25-99C0D15FE056}"/>
              </a:ext>
            </a:extLst>
          </p:cNvPr>
          <p:cNvSpPr txBox="1">
            <a:spLocks/>
          </p:cNvSpPr>
          <p:nvPr/>
        </p:nvSpPr>
        <p:spPr>
          <a:xfrm>
            <a:off x="6643458" y="2556932"/>
            <a:ext cx="4253143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Font typeface="Arial"/>
              <a:buNone/>
            </a:pPr>
            <a:r>
              <a:rPr lang="en-IN" dirty="0"/>
              <a:t>String[] cars = {"Volvo", "BMW", "Ford", "Mazda"};</a:t>
            </a:r>
          </a:p>
          <a:p>
            <a:pPr marL="0" indent="0">
              <a:buFont typeface="Arial"/>
              <a:buNone/>
            </a:pPr>
            <a:r>
              <a:rPr lang="en-IN" dirty="0" err="1"/>
              <a:t>Eg</a:t>
            </a:r>
            <a:r>
              <a:rPr lang="en-IN" dirty="0"/>
              <a:t>:</a:t>
            </a:r>
          </a:p>
          <a:p>
            <a:pPr marL="0" indent="0">
              <a:buFont typeface="Arial"/>
              <a:buNone/>
            </a:pPr>
            <a:r>
              <a:rPr lang="en-IN" b="1" dirty="0"/>
              <a:t>for (String car : cars) {</a:t>
            </a:r>
          </a:p>
          <a:p>
            <a:pPr marL="0" indent="0">
              <a:buFont typeface="Arial"/>
              <a:buNone/>
            </a:pPr>
            <a:r>
              <a:rPr lang="en-IN" b="1" dirty="0"/>
              <a:t>  </a:t>
            </a:r>
            <a:r>
              <a:rPr lang="en-IN" b="1" dirty="0" err="1"/>
              <a:t>System.out.println</a:t>
            </a:r>
            <a:r>
              <a:rPr lang="en-IN" b="1" dirty="0"/>
              <a:t>(car);</a:t>
            </a:r>
          </a:p>
          <a:p>
            <a:pPr marL="0" indent="0">
              <a:buFont typeface="Arial"/>
              <a:buNone/>
            </a:pPr>
            <a:r>
              <a:rPr lang="en-IN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88818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7B8B-1A8A-4684-9B0F-06D4EF3BB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while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4D46C-DAC5-40DD-BE7B-578E2A10F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 {</a:t>
            </a:r>
          </a:p>
          <a:p>
            <a:pPr marL="0" indent="0">
              <a:buNone/>
            </a:pPr>
            <a:r>
              <a:rPr lang="en-US" dirty="0"/>
              <a:t>  // code block to be executed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while (condition);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7278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329E-9E41-4243-A59E-500BF4516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loops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4202B-C48F-4418-BF22-21A7A8670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for (int </a:t>
            </a:r>
            <a:r>
              <a:rPr lang="en-IN" dirty="0" err="1"/>
              <a:t>i</a:t>
            </a:r>
            <a:r>
              <a:rPr lang="en-IN" dirty="0"/>
              <a:t> = 1; </a:t>
            </a:r>
            <a:r>
              <a:rPr lang="en-IN" dirty="0" err="1"/>
              <a:t>i</a:t>
            </a:r>
            <a:r>
              <a:rPr lang="en-IN" dirty="0"/>
              <a:t> &lt;= 2;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System.out.println</a:t>
            </a:r>
            <a:r>
              <a:rPr lang="en-IN" dirty="0"/>
              <a:t>("Outer: " + </a:t>
            </a:r>
            <a:r>
              <a:rPr lang="en-IN" dirty="0" err="1"/>
              <a:t>i</a:t>
            </a:r>
            <a:r>
              <a:rPr lang="en-IN" dirty="0"/>
              <a:t>); // Executes 2 times</a:t>
            </a:r>
          </a:p>
          <a:p>
            <a:pPr marL="0" indent="0">
              <a:buNone/>
            </a:pPr>
            <a:r>
              <a:rPr lang="en-IN" dirty="0"/>
              <a:t>  </a:t>
            </a:r>
          </a:p>
          <a:p>
            <a:pPr marL="0" indent="0">
              <a:buNone/>
            </a:pPr>
            <a:r>
              <a:rPr lang="en-IN" dirty="0"/>
              <a:t>  	// Inner loop</a:t>
            </a:r>
          </a:p>
          <a:p>
            <a:pPr marL="0" indent="0">
              <a:buNone/>
            </a:pPr>
            <a:r>
              <a:rPr lang="en-IN" dirty="0"/>
              <a:t>  	for (int j = 1; j &lt;= 3; </a:t>
            </a:r>
            <a:r>
              <a:rPr lang="en-IN" dirty="0" err="1"/>
              <a:t>j++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		</a:t>
            </a:r>
            <a:r>
              <a:rPr lang="en-IN" dirty="0" err="1"/>
              <a:t>System.out.println</a:t>
            </a:r>
            <a:r>
              <a:rPr lang="en-IN" dirty="0"/>
              <a:t>(" Inner: " + j); // Executes 6 times (2 * 3)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6813754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54FD-9E87-4D29-935E-20061E936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4F57C-6780-400C-A093-0D1E869BA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break statement can also be used to jump out of a loop.</a:t>
            </a:r>
          </a:p>
          <a:p>
            <a:endParaRPr lang="en-US" dirty="0"/>
          </a:p>
          <a:p>
            <a:pPr marL="0" indent="0">
              <a:buNone/>
            </a:pPr>
            <a:r>
              <a:rPr lang="nn-NO" dirty="0"/>
              <a:t>for (int i = 0; i &lt; 10; i++) {</a:t>
            </a:r>
          </a:p>
          <a:p>
            <a:pPr marL="0" indent="0">
              <a:buNone/>
            </a:pPr>
            <a:r>
              <a:rPr lang="nn-NO" dirty="0"/>
              <a:t>  if (i == 4) {</a:t>
            </a:r>
          </a:p>
          <a:p>
            <a:pPr marL="0" indent="0">
              <a:buNone/>
            </a:pPr>
            <a:r>
              <a:rPr lang="nn-NO" dirty="0"/>
              <a:t>    </a:t>
            </a:r>
            <a:r>
              <a:rPr lang="nn-NO" b="1" dirty="0"/>
              <a:t>break;</a:t>
            </a:r>
          </a:p>
          <a:p>
            <a:pPr marL="0" indent="0">
              <a:buNone/>
            </a:pPr>
            <a:r>
              <a:rPr lang="nn-NO" dirty="0"/>
              <a:t>  }</a:t>
            </a:r>
          </a:p>
          <a:p>
            <a:pPr marL="0" indent="0">
              <a:buNone/>
            </a:pPr>
            <a:r>
              <a:rPr lang="nn-NO" dirty="0"/>
              <a:t>  System.out.println(i);</a:t>
            </a:r>
          </a:p>
          <a:p>
            <a:pPr marL="0" indent="0">
              <a:buNone/>
            </a:pPr>
            <a:r>
              <a:rPr lang="nn-NO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4919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3D85A-D792-4DFA-88A1-855DA380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3BCB9-D154-4D58-9F6D-3937D396B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continue statement breaks </a:t>
            </a:r>
            <a:r>
              <a:rPr lang="en-US" b="1" dirty="0"/>
              <a:t>one iteration </a:t>
            </a:r>
            <a:r>
              <a:rPr lang="en-US" dirty="0"/>
              <a:t>(in the loop), if a specified condition occurs, and continues with the next iteration in the loop.</a:t>
            </a:r>
          </a:p>
          <a:p>
            <a:r>
              <a:rPr lang="en-US" dirty="0"/>
              <a:t>This example skips the value of 4:</a:t>
            </a:r>
          </a:p>
          <a:p>
            <a:pPr marL="0" indent="0">
              <a:buNone/>
            </a:pPr>
            <a:r>
              <a:rPr lang="nn-NO" dirty="0"/>
              <a:t>for (int i = 0; i &lt; 10; i++) {</a:t>
            </a:r>
          </a:p>
          <a:p>
            <a:pPr marL="0" indent="0">
              <a:buNone/>
            </a:pPr>
            <a:r>
              <a:rPr lang="nn-NO" dirty="0"/>
              <a:t>  if (i == 4) {</a:t>
            </a:r>
          </a:p>
          <a:p>
            <a:pPr marL="0" indent="0">
              <a:buNone/>
            </a:pPr>
            <a:r>
              <a:rPr lang="nn-NO" dirty="0"/>
              <a:t>    </a:t>
            </a:r>
            <a:r>
              <a:rPr lang="nn-NO" b="1" dirty="0"/>
              <a:t>continue;</a:t>
            </a:r>
          </a:p>
          <a:p>
            <a:pPr marL="0" indent="0">
              <a:buNone/>
            </a:pPr>
            <a:r>
              <a:rPr lang="nn-NO" dirty="0"/>
              <a:t>  }</a:t>
            </a:r>
          </a:p>
          <a:p>
            <a:pPr marL="0" indent="0">
              <a:buNone/>
            </a:pPr>
            <a:r>
              <a:rPr lang="nn-NO" dirty="0"/>
              <a:t>  System.out.println(i);</a:t>
            </a:r>
          </a:p>
          <a:p>
            <a:pPr marL="0" indent="0">
              <a:buNone/>
            </a:pPr>
            <a:r>
              <a:rPr lang="nn-NO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50159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09145F-C8C2-487E-B462-64B36FBBD2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Arrays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8852636-7DDF-4541-8B93-0F104B79A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Storing same type of data in a collection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1327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D553-2897-43B8-A387-A4E558EE7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6E31D-E15F-4141-B952-90AEE1465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the variable type with square brackets [ ].</a:t>
            </a:r>
          </a:p>
          <a:p>
            <a:pPr marL="0" indent="0">
              <a:buNone/>
            </a:pPr>
            <a:r>
              <a:rPr lang="en-IN" dirty="0"/>
              <a:t>String[] cars;</a:t>
            </a:r>
          </a:p>
          <a:p>
            <a:pPr marL="0" indent="0">
              <a:buNone/>
            </a:pPr>
            <a:r>
              <a:rPr lang="en-IN" dirty="0"/>
              <a:t>Insert values for arrays , list the values in the comma separated list inside the{}.</a:t>
            </a:r>
          </a:p>
          <a:p>
            <a:pPr marL="0" indent="0">
              <a:buNone/>
            </a:pPr>
            <a:r>
              <a:rPr lang="en-IN" dirty="0"/>
              <a:t> String[] cars={“</a:t>
            </a:r>
            <a:r>
              <a:rPr lang="en-IN" dirty="0" err="1"/>
              <a:t>audi</a:t>
            </a:r>
            <a:r>
              <a:rPr lang="en-IN" dirty="0"/>
              <a:t>”,”</a:t>
            </a:r>
            <a:r>
              <a:rPr lang="en-IN" dirty="0" err="1"/>
              <a:t>bmw</a:t>
            </a:r>
            <a:r>
              <a:rPr lang="en-IN" dirty="0"/>
              <a:t>”,”</a:t>
            </a:r>
            <a:r>
              <a:rPr lang="en-IN" dirty="0" err="1"/>
              <a:t>benz</a:t>
            </a:r>
            <a:r>
              <a:rPr lang="en-IN" dirty="0"/>
              <a:t>”};</a:t>
            </a:r>
          </a:p>
          <a:p>
            <a:pPr marL="0" indent="0">
              <a:buNone/>
            </a:pPr>
            <a:r>
              <a:rPr lang="en-IN" dirty="0"/>
              <a:t>Int[] </a:t>
            </a:r>
            <a:r>
              <a:rPr lang="en-IN" dirty="0" err="1"/>
              <a:t>mynumbers</a:t>
            </a:r>
            <a:r>
              <a:rPr lang="en-IN" dirty="0"/>
              <a:t>={1,2,3,4,5,6,7,8};</a:t>
            </a:r>
          </a:p>
        </p:txBody>
      </p:sp>
    </p:spTree>
    <p:extLst>
      <p:ext uri="{BB962C8B-B14F-4D97-AF65-F5344CB8AC3E}">
        <p14:creationId xmlns:p14="http://schemas.microsoft.com/office/powerpoint/2010/main" val="3515423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F241-6C6D-4FC7-81C6-9844CCBE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of array elements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B07D2-09AE-4D78-8A74-111CCD20F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String[] cars = {"Volvo", "BMW", "Ford", "Mazda"};</a:t>
            </a:r>
          </a:p>
          <a:p>
            <a:pPr marL="0" indent="0">
              <a:buNone/>
            </a:pPr>
            <a:r>
              <a:rPr lang="en-IN" dirty="0" err="1"/>
              <a:t>System.out.println</a:t>
            </a:r>
            <a:r>
              <a:rPr lang="en-IN" dirty="0"/>
              <a:t>(cars[0]);</a:t>
            </a:r>
          </a:p>
          <a:p>
            <a:pPr marL="0" indent="0">
              <a:buNone/>
            </a:pPr>
            <a:r>
              <a:rPr lang="en-IN" dirty="0"/>
              <a:t>// Outputs Volvo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To change array element</a:t>
            </a:r>
          </a:p>
          <a:p>
            <a:pPr marL="0" indent="0">
              <a:buNone/>
            </a:pPr>
            <a:r>
              <a:rPr lang="en-IN" dirty="0"/>
              <a:t>Cars[4]=“</a:t>
            </a:r>
            <a:r>
              <a:rPr lang="en-IN" dirty="0" err="1"/>
              <a:t>audi</a:t>
            </a:r>
            <a:r>
              <a:rPr lang="en-IN" dirty="0"/>
              <a:t>”;</a:t>
            </a:r>
          </a:p>
        </p:txBody>
      </p:sp>
    </p:spTree>
    <p:extLst>
      <p:ext uri="{BB962C8B-B14F-4D97-AF65-F5344CB8AC3E}">
        <p14:creationId xmlns:p14="http://schemas.microsoft.com/office/powerpoint/2010/main" val="12266377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0324F-A87D-4DE7-84BB-AE483166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62F4C-210E-48DE-9EBD-EE6F4B669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String[] cars={“cars”,”</a:t>
            </a:r>
            <a:r>
              <a:rPr lang="en-US" dirty="0" err="1"/>
              <a:t>audi</a:t>
            </a:r>
            <a:r>
              <a:rPr lang="en-US" dirty="0"/>
              <a:t>”,”</a:t>
            </a:r>
            <a:r>
              <a:rPr lang="en-US" dirty="0" err="1"/>
              <a:t>bmw</a:t>
            </a:r>
            <a:r>
              <a:rPr lang="en-US" dirty="0"/>
              <a:t>”};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(cars[0]);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83752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A935-937A-4376-B2E0-2051CB6B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2-D arrays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F2AD2-75E3-46C8-B225-8EBA5B4F6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Contains rows and columns</a:t>
            </a:r>
          </a:p>
          <a:p>
            <a:pPr marL="0" indent="0">
              <a:buNone/>
            </a:pPr>
            <a:r>
              <a:rPr lang="en-US" dirty="0"/>
              <a:t>Int[] num={{1,2,3,4},{5,6,7,8}};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I,j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=0;i&lt;2;i++)  {</a:t>
            </a:r>
          </a:p>
          <a:p>
            <a:pPr marL="0" indent="0">
              <a:buNone/>
            </a:pPr>
            <a:r>
              <a:rPr lang="en-US" dirty="0"/>
              <a:t>For(j=0;j&lt;4;j++){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(num[</a:t>
            </a:r>
            <a:r>
              <a:rPr lang="en-US" dirty="0" err="1"/>
              <a:t>i</a:t>
            </a:r>
            <a:r>
              <a:rPr lang="en-US" dirty="0"/>
              <a:t>][j]);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21527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F83A-23DE-442F-A240-1B53A264E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Traversal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886C5-7027-41BA-89FB-C56A66E88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Int[] num={1,2,3,4};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=0;i&lt;4;i++)  {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(num[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68319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240F-BA5D-49CC-8D98-9F52A943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each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CB5D7-1A41-4866-A577-59C684585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is used exclusively to </a:t>
            </a:r>
            <a:r>
              <a:rPr lang="en-US" b="1" dirty="0"/>
              <a:t>loop through elements in an array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Int[] num={1,2,3,4};</a:t>
            </a:r>
          </a:p>
          <a:p>
            <a:pPr marL="0" indent="0">
              <a:buNone/>
            </a:pPr>
            <a:r>
              <a:rPr lang="en-US" dirty="0"/>
              <a:t>for(int x:num) 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(num[x]);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7741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0A837-D081-4964-9439-73F79237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2A916-487C-42D5-8BCF-AC0F260A4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String class has a set of </a:t>
            </a:r>
            <a:r>
              <a:rPr lang="en-US" b="1" dirty="0"/>
              <a:t>built-in methods </a:t>
            </a:r>
            <a:r>
              <a:rPr lang="en-US" dirty="0"/>
              <a:t>that you can use on strings.</a:t>
            </a:r>
          </a:p>
          <a:p>
            <a:r>
              <a:rPr lang="en-US" dirty="0">
                <a:hlinkClick r:id="rId2"/>
              </a:rPr>
              <a:t>Difference between string literal and new keyword</a:t>
            </a:r>
            <a:endParaRPr lang="en-US" dirty="0"/>
          </a:p>
          <a:p>
            <a:r>
              <a:rPr lang="en-US" dirty="0"/>
              <a:t>String class</a:t>
            </a:r>
          </a:p>
          <a:p>
            <a:r>
              <a:rPr lang="en-US" dirty="0"/>
              <a:t>String method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6322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861D6C-C625-42FB-AB78-5612413B7A4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838474581"/>
              </p:ext>
            </p:extLst>
          </p:nvPr>
        </p:nvGraphicFramePr>
        <p:xfrm>
          <a:off x="1376039" y="949911"/>
          <a:ext cx="9499108" cy="48383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95214">
                  <a:extLst>
                    <a:ext uri="{9D8B030D-6E8A-4147-A177-3AD203B41FA5}">
                      <a16:colId xmlns:a16="http://schemas.microsoft.com/office/drawing/2014/main" val="3705816624"/>
                    </a:ext>
                  </a:extLst>
                </a:gridCol>
                <a:gridCol w="2995214">
                  <a:extLst>
                    <a:ext uri="{9D8B030D-6E8A-4147-A177-3AD203B41FA5}">
                      <a16:colId xmlns:a16="http://schemas.microsoft.com/office/drawing/2014/main" val="1430488167"/>
                    </a:ext>
                  </a:extLst>
                </a:gridCol>
                <a:gridCol w="3508680">
                  <a:extLst>
                    <a:ext uri="{9D8B030D-6E8A-4147-A177-3AD203B41FA5}">
                      <a16:colId xmlns:a16="http://schemas.microsoft.com/office/drawing/2014/main" val="2352458913"/>
                    </a:ext>
                  </a:extLst>
                </a:gridCol>
              </a:tblGrid>
              <a:tr h="514814"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Method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What it returns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What it does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70593" marT="70593" marB="70593" anchor="ctr"/>
                </a:tc>
                <a:extLst>
                  <a:ext uri="{0D108BD9-81ED-4DB2-BD59-A6C34878D82A}">
                    <a16:rowId xmlns:a16="http://schemas.microsoft.com/office/drawing/2014/main" val="339331252"/>
                  </a:ext>
                </a:extLst>
              </a:tr>
              <a:tr h="514814"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length()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int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Counts all characters.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70593" marT="70593" marB="70593" anchor="ctr"/>
                </a:tc>
                <a:extLst>
                  <a:ext uri="{0D108BD9-81ED-4DB2-BD59-A6C34878D82A}">
                    <a16:rowId xmlns:a16="http://schemas.microsoft.com/office/drawing/2014/main" val="1669274948"/>
                  </a:ext>
                </a:extLst>
              </a:tr>
              <a:tr h="514814"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charAt(i)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char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Fetches the character at position i.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70593" marT="70593" marB="70593" anchor="ctr"/>
                </a:tc>
                <a:extLst>
                  <a:ext uri="{0D108BD9-81ED-4DB2-BD59-A6C34878D82A}">
                    <a16:rowId xmlns:a16="http://schemas.microsoft.com/office/drawing/2014/main" val="3039218911"/>
                  </a:ext>
                </a:extLst>
              </a:tr>
              <a:tr h="820030"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trim()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dirty="0">
                          <a:solidFill>
                            <a:srgbClr val="1F1F1F"/>
                          </a:solidFill>
                          <a:effectLst/>
                        </a:rPr>
                        <a:t>String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Erases empty spaces from both ends.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70593" marT="70593" marB="70593" anchor="ctr"/>
                </a:tc>
                <a:extLst>
                  <a:ext uri="{0D108BD9-81ED-4DB2-BD59-A6C34878D82A}">
                    <a16:rowId xmlns:a16="http://schemas.microsoft.com/office/drawing/2014/main" val="1138598306"/>
                  </a:ext>
                </a:extLst>
              </a:tr>
              <a:tr h="824620"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substring(start, end)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String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Extracts text from start index up to (but excluding) end index.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70593" marT="70593" marB="70593" anchor="ctr"/>
                </a:tc>
                <a:extLst>
                  <a:ext uri="{0D108BD9-81ED-4DB2-BD59-A6C34878D82A}">
                    <a16:rowId xmlns:a16="http://schemas.microsoft.com/office/drawing/2014/main" val="904330443"/>
                  </a:ext>
                </a:extLst>
              </a:tr>
              <a:tr h="824620"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contains("xyz")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boolean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Checks if "xyz" exists anywhere inside the string.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70593" marT="70593" marB="70593" anchor="ctr"/>
                </a:tc>
                <a:extLst>
                  <a:ext uri="{0D108BD9-81ED-4DB2-BD59-A6C34878D82A}">
                    <a16:rowId xmlns:a16="http://schemas.microsoft.com/office/drawing/2014/main" val="4265355962"/>
                  </a:ext>
                </a:extLst>
              </a:tr>
              <a:tr h="824620"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equals("abc")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boolean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47062" marT="70593" marB="70593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Safely checks if two strings have identical content.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0593" marR="70593" marT="70593" marB="70593" anchor="ctr"/>
                </a:tc>
                <a:extLst>
                  <a:ext uri="{0D108BD9-81ED-4DB2-BD59-A6C34878D82A}">
                    <a16:rowId xmlns:a16="http://schemas.microsoft.com/office/drawing/2014/main" val="3685477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2679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6D119-C67B-4C34-ADBD-EF884D1D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92C6F-C121-4FEF-8713-C426A0880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104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3280-68A9-47A4-AAC0-C9086C29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6AA27-7666-4916-B158-6F1F9A5E0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8559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CCBF-2F98-48D1-A23F-52BC9322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5A1B-4743-4D26-A9C1-2181C1A7A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0199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1016</TotalTime>
  <Words>2266</Words>
  <Application>Microsoft Office PowerPoint</Application>
  <PresentationFormat>Widescreen</PresentationFormat>
  <Paragraphs>336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Courier New</vt:lpstr>
      <vt:lpstr>Garamond</vt:lpstr>
      <vt:lpstr>Google Sans Text</vt:lpstr>
      <vt:lpstr>Organic</vt:lpstr>
      <vt:lpstr>Java programming</vt:lpstr>
      <vt:lpstr>Introduction</vt:lpstr>
      <vt:lpstr>Core Components</vt:lpstr>
      <vt:lpstr>Java ecosystem</vt:lpstr>
      <vt:lpstr>Main Editions of Java </vt:lpstr>
      <vt:lpstr>Features of Java </vt:lpstr>
      <vt:lpstr>Features of Java </vt:lpstr>
      <vt:lpstr> Installation</vt:lpstr>
      <vt:lpstr>How to Run</vt:lpstr>
      <vt:lpstr>Java Program Structure</vt:lpstr>
      <vt:lpstr>Execution of java code</vt:lpstr>
      <vt:lpstr>Java basics</vt:lpstr>
      <vt:lpstr>Keywords</vt:lpstr>
      <vt:lpstr>PowerPoint Presentation</vt:lpstr>
      <vt:lpstr>Identifiers</vt:lpstr>
      <vt:lpstr>Literals</vt:lpstr>
      <vt:lpstr>Datatypes </vt:lpstr>
      <vt:lpstr>Primitive data types</vt:lpstr>
      <vt:lpstr>Non-primitive datatype</vt:lpstr>
      <vt:lpstr>Key Differences</vt:lpstr>
      <vt:lpstr>Variables </vt:lpstr>
      <vt:lpstr>Local Variables</vt:lpstr>
      <vt:lpstr>Instance Variables</vt:lpstr>
      <vt:lpstr>Static Variables</vt:lpstr>
      <vt:lpstr>Type casting</vt:lpstr>
      <vt:lpstr>1. Widening Casting (Implicit)</vt:lpstr>
      <vt:lpstr>2. Narrowing Casting (Explicit)</vt:lpstr>
      <vt:lpstr>Operators </vt:lpstr>
      <vt:lpstr> Arithmetic Operators</vt:lpstr>
      <vt:lpstr>Relational operators</vt:lpstr>
      <vt:lpstr>Logical operators</vt:lpstr>
      <vt:lpstr>Assignment operator</vt:lpstr>
      <vt:lpstr>Unary operator</vt:lpstr>
      <vt:lpstr>Ternary operator</vt:lpstr>
      <vt:lpstr>If condition</vt:lpstr>
      <vt:lpstr>If-else condition</vt:lpstr>
      <vt:lpstr>Else if</vt:lpstr>
      <vt:lpstr>Nested if</vt:lpstr>
      <vt:lpstr>switch statements</vt:lpstr>
      <vt:lpstr>Looping statements-for </vt:lpstr>
      <vt:lpstr>while</vt:lpstr>
      <vt:lpstr>For-each loop</vt:lpstr>
      <vt:lpstr>Do while loop</vt:lpstr>
      <vt:lpstr>Nested loops</vt:lpstr>
      <vt:lpstr>Break statement</vt:lpstr>
      <vt:lpstr>Continue statement</vt:lpstr>
      <vt:lpstr>Arrays</vt:lpstr>
      <vt:lpstr>Arrays</vt:lpstr>
      <vt:lpstr>Accessing of array elements</vt:lpstr>
      <vt:lpstr>1-D arrays</vt:lpstr>
      <vt:lpstr>2-D arrays</vt:lpstr>
      <vt:lpstr>Array Traversal</vt:lpstr>
      <vt:lpstr>For each loop</vt:lpstr>
      <vt:lpstr>Strings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</dc:title>
  <dc:creator>USER</dc:creator>
  <cp:lastModifiedBy>USER</cp:lastModifiedBy>
  <cp:revision>24</cp:revision>
  <dcterms:created xsi:type="dcterms:W3CDTF">2026-05-02T07:29:43Z</dcterms:created>
  <dcterms:modified xsi:type="dcterms:W3CDTF">2026-07-06T05:35:45Z</dcterms:modified>
</cp:coreProperties>
</file>